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2FD88-588B-A019-1A12-348FB61673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800F89-E530-8107-31C7-78FA9DCD3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CA040-3AB5-720C-AA9E-A73BA8868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3E3AE-5185-4D7B-AD2A-E5BDF163BCCD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0D690-8651-22E3-945B-343329C3E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B41FF-B7B5-38B2-F72B-A4D142094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E2143-9BAB-4F7A-84AD-B73DBFD06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278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7D80B-B590-0FC8-9B72-CEDC66B15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72CAE-49D3-F692-6AE0-3B789AD35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63E2B-7D50-885D-1EA9-714089810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3E3AE-5185-4D7B-AD2A-E5BDF163BCCD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46FAB-3744-775E-8959-FA8CD0319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1041-0D4C-50C6-EE1D-F77690B6B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E2143-9BAB-4F7A-84AD-B73DBFD06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861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F1480-DA92-A4E4-C3AA-ED146AE74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86A8A-416B-CE16-E747-C7F33679D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BDE98-48EF-19DF-AE90-1E298BAEC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3E3AE-5185-4D7B-AD2A-E5BDF163BCCD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D8482-A4D3-40DA-96C2-6D822E135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CFAFA-8492-96B0-3707-83D14EC92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E2143-9BAB-4F7A-84AD-B73DBFD06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7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06F62-E1C0-8F41-2B3C-301C725D1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7CDD7-DA59-615A-0821-C8C3986CAE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B510EE-BD92-976D-6095-DAE5A1778C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F38BC1-0EAD-F028-4F0F-12D5AB915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3E3AE-5185-4D7B-AD2A-E5BDF163BCCD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27549-3A99-DED9-A63F-2EAAF9960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567A6-0234-547C-3358-DB4BE2E2A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E2143-9BAB-4F7A-84AD-B73DBFD06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016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6879C-AF92-2311-9C63-F32A94276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F791D-9F2E-4749-A803-73F156B6D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57F9C6-6B68-237C-CB8D-AB77051D2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3B237B-B59D-B40D-131C-6166603805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8935E7-EB80-92A8-9C61-4E3C3ACB1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EBE422-A6F1-A85D-5722-995C4550D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3E3AE-5185-4D7B-AD2A-E5BDF163BCCD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7B4CE1-B929-AB2B-E344-51D2A3709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D67041-BDDA-92BD-D944-0652E071E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E2143-9BAB-4F7A-84AD-B73DBFD06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783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F9BE-9B82-1001-BC4F-CE72D96D4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F385F8-CA89-F92B-4F3F-63E2072C9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3E3AE-5185-4D7B-AD2A-E5BDF163BCCD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033BFE-4982-0795-683B-39CD44E19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B5329-680C-DBD8-E98E-327D6D69A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E2143-9BAB-4F7A-84AD-B73DBFD06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416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78DE49-12E5-1EDC-EC23-FBEDFC7AF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3E3AE-5185-4D7B-AD2A-E5BDF163BCCD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B7B26F-D8BA-40E7-A2E9-74CC08843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936708-3599-EA72-D6A2-6EAAD730F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E2143-9BAB-4F7A-84AD-B73DBFD06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045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DD19C-C9C6-9E88-2111-3DD057C49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C6A49-EBBD-F787-59FC-8D1F35A2D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960BC9-C8EB-5595-C4DA-E3F48D9B57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A6E994-BAA5-DF84-FE96-83CA318C7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3E3AE-5185-4D7B-AD2A-E5BDF163BCCD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3F10C-D4A5-03FE-3E50-973A93E64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53B1E-40E5-1258-7D13-3D869867E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E2143-9BAB-4F7A-84AD-B73DBFD06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11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4009F-92D2-11D2-AE1C-E1FFC4E4E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F3C082-3C92-4EEE-2D53-A2F4D9FAB6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B78DF-8F52-8D07-2A13-EBB495FEA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27DA0A-20CE-0B22-E7A6-D2C76452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3E3AE-5185-4D7B-AD2A-E5BDF163BCCD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FE370-B6B2-B0DA-D075-75B43D922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1EE816-9B25-C57E-41A3-AFE459545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E2143-9BAB-4F7A-84AD-B73DBFD06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586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92896-2E00-C56E-A66A-2A7DB5268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BA36DE-4018-A6C9-19F8-7E7A0D611B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38D4F-B2FE-9772-E56B-111C83E67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3E3AE-5185-4D7B-AD2A-E5BDF163BCCD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E0D8C-13D1-65A7-80EB-963A9F8C7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049E4-2655-3C52-5D22-7075CB925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E2143-9BAB-4F7A-84AD-B73DBFD06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923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BB8093-FAB0-A1E9-9512-4B1FC6E5B1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0ADED4-23A7-8BE4-627C-BC7F11C9D0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4926B-7151-5FB6-8ED5-F603D0D21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3E3AE-5185-4D7B-AD2A-E5BDF163BCCD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D5641-BE13-6DA4-FBD3-E53D8262A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28DA6-4C02-2FE6-F098-B09A8DE38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E2143-9BAB-4F7A-84AD-B73DBFD06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05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BF4C9C-770A-61C0-B227-B624DF8B7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FBCC2-3CCE-A02B-002D-E86A489E7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603F8-E6A4-0581-5054-ADAD8FB4CE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83E3AE-5185-4D7B-AD2A-E5BDF163BCCD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0802E-5AC1-5436-EA9A-85BE7E409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6F4B5-EAB3-96D1-ADD8-DE02FDFE5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E2143-9BAB-4F7A-84AD-B73DBFD06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33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webp"/><Relationship Id="rId10" Type="http://schemas.openxmlformats.org/officeDocument/2006/relationships/image" Target="../media/image12.png"/><Relationship Id="rId19" Type="http://schemas.openxmlformats.org/officeDocument/2006/relationships/image" Target="../media/image21.sv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BB823-3CFB-3662-70E5-9AB8003861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528" y="1385455"/>
            <a:ext cx="11720944" cy="2752436"/>
          </a:xfrm>
        </p:spPr>
        <p:txBody>
          <a:bodyPr>
            <a:normAutofit/>
          </a:bodyPr>
          <a:lstStyle/>
          <a:p>
            <a:r>
              <a:rPr lang="ro-RO" noProof="1">
                <a:solidFill>
                  <a:schemeClr val="bg1"/>
                </a:solidFill>
                <a:latin typeface="UT Sans Medium" panose="00000500000000000000" pitchFamily="2" charset="0"/>
              </a:rPr>
              <a:t>Sistem de procesare și vizualizare a imaginilor cu suport pentru filtre avansate și procesare paralelă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60F4DB-2F70-B0D0-B052-5BCDA65D1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3418" y="5098329"/>
            <a:ext cx="9144000" cy="993053"/>
          </a:xfrm>
        </p:spPr>
        <p:txBody>
          <a:bodyPr/>
          <a:lstStyle/>
          <a:p>
            <a:pPr algn="just"/>
            <a:r>
              <a:rPr lang="ro-RO" b="1" noProof="1">
                <a:solidFill>
                  <a:schemeClr val="bg1"/>
                </a:solidFill>
                <a:latin typeface="UT Sans Medium" panose="00000500000000000000" pitchFamily="2" charset="0"/>
              </a:rPr>
              <a:t>Student</a:t>
            </a:r>
            <a:r>
              <a:rPr lang="ro-RO" noProof="1">
                <a:solidFill>
                  <a:schemeClr val="bg1"/>
                </a:solidFill>
                <a:latin typeface="UT Sans Medium" panose="00000500000000000000" pitchFamily="2" charset="0"/>
              </a:rPr>
              <a:t>: Horovei Dumitru</a:t>
            </a:r>
          </a:p>
          <a:p>
            <a:pPr algn="just"/>
            <a:r>
              <a:rPr lang="ro-RO" b="1" noProof="1">
                <a:solidFill>
                  <a:schemeClr val="bg1"/>
                </a:solidFill>
                <a:latin typeface="UT Sans Medium" panose="00000500000000000000" pitchFamily="2" charset="0"/>
              </a:rPr>
              <a:t>Coordonator</a:t>
            </a:r>
            <a:r>
              <a:rPr lang="ro-RO" noProof="1">
                <a:solidFill>
                  <a:schemeClr val="bg1"/>
                </a:solidFill>
                <a:latin typeface="UT Sans Medium" panose="00000500000000000000" pitchFamily="2" charset="0"/>
              </a:rPr>
              <a:t>: Prof. Dr. Deaconu Adrian-Marius</a:t>
            </a:r>
          </a:p>
        </p:txBody>
      </p:sp>
    </p:spTree>
    <p:extLst>
      <p:ext uri="{BB962C8B-B14F-4D97-AF65-F5344CB8AC3E}">
        <p14:creationId xmlns:p14="http://schemas.microsoft.com/office/powerpoint/2010/main" val="1688539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60F20-45FF-D77C-CBF5-8C7816C15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noProof="1">
                <a:solidFill>
                  <a:schemeClr val="bg1"/>
                </a:solidFill>
                <a:latin typeface="UT Sans Medium" panose="00000500000000000000" pitchFamily="2" charset="0"/>
              </a:rPr>
              <a:t>Cuprins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3D2DC-2DFF-DD58-5089-3B13A0D86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noProof="1">
                <a:solidFill>
                  <a:schemeClr val="bg1"/>
                </a:solidFill>
                <a:latin typeface="UT Sans Medium" panose="00000500000000000000" pitchFamily="2" charset="0"/>
              </a:rPr>
              <a:t>Motivarea temei alese</a:t>
            </a:r>
          </a:p>
          <a:p>
            <a:r>
              <a:rPr lang="ro-RO" noProof="1">
                <a:solidFill>
                  <a:schemeClr val="bg1"/>
                </a:solidFill>
                <a:latin typeface="UT Sans Medium" panose="00000500000000000000" pitchFamily="2" charset="0"/>
              </a:rPr>
              <a:t>Descrierea aplicației</a:t>
            </a:r>
          </a:p>
          <a:p>
            <a:r>
              <a:rPr lang="ro-RO" noProof="1">
                <a:solidFill>
                  <a:schemeClr val="bg1"/>
                </a:solidFill>
                <a:latin typeface="UT Sans Medium" panose="00000500000000000000" pitchFamily="2" charset="0"/>
              </a:rPr>
              <a:t>Tehnologii folosite</a:t>
            </a:r>
          </a:p>
          <a:p>
            <a:r>
              <a:rPr lang="ro-RO" noProof="1">
                <a:solidFill>
                  <a:schemeClr val="bg1"/>
                </a:solidFill>
                <a:latin typeface="UT Sans Medium" panose="00000500000000000000" pitchFamily="2" charset="0"/>
              </a:rPr>
              <a:t>Concluzii și direcții viitoare</a:t>
            </a:r>
          </a:p>
          <a:p>
            <a:r>
              <a:rPr lang="ro-RO" noProof="1">
                <a:solidFill>
                  <a:schemeClr val="bg1"/>
                </a:solidFill>
                <a:latin typeface="UT Sans Medium" panose="00000500000000000000" pitchFamily="2" charset="0"/>
              </a:rPr>
              <a:t>Q&amp;A</a:t>
            </a:r>
          </a:p>
          <a:p>
            <a:r>
              <a:rPr lang="ro-RO" noProof="1">
                <a:solidFill>
                  <a:schemeClr val="bg1"/>
                </a:solidFill>
                <a:latin typeface="UT Sans Medium" panose="00000500000000000000" pitchFamily="2" charset="0"/>
              </a:rPr>
              <a:t>Bibliografie selectivă</a:t>
            </a:r>
          </a:p>
        </p:txBody>
      </p:sp>
    </p:spTree>
    <p:extLst>
      <p:ext uri="{BB962C8B-B14F-4D97-AF65-F5344CB8AC3E}">
        <p14:creationId xmlns:p14="http://schemas.microsoft.com/office/powerpoint/2010/main" val="1802572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19DFC-E524-3F9A-7610-00FA66C67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noProof="1">
                <a:solidFill>
                  <a:schemeClr val="bg1"/>
                </a:solidFill>
                <a:latin typeface="UT Sans Medium" panose="00000500000000000000" pitchFamily="2" charset="0"/>
              </a:rPr>
              <a:t>Motivarea temei alese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8CAD6-2F5E-ECAF-03D4-682B61982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3105" y="1825625"/>
            <a:ext cx="5070696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o-RO" noProof="1">
                <a:solidFill>
                  <a:schemeClr val="bg1"/>
                </a:solidFill>
                <a:latin typeface="UT Sans Medium" panose="00000500000000000000" pitchFamily="2" charset="0"/>
              </a:rPr>
              <a:t>Selectarea temei</a:t>
            </a:r>
            <a:r>
              <a:rPr lang="en-US" noProof="1">
                <a:solidFill>
                  <a:schemeClr val="bg1"/>
                </a:solidFill>
                <a:latin typeface="UT Sans Medium" panose="00000500000000000000" pitchFamily="2" charset="0"/>
              </a:rPr>
              <a:t> s-a realizat pe baza a mai multor criterii precum</a:t>
            </a:r>
            <a:r>
              <a:rPr lang="ro-RO" noProof="1">
                <a:solidFill>
                  <a:schemeClr val="bg1"/>
                </a:solidFill>
                <a:latin typeface="UT Sans Medium" panose="00000500000000000000" pitchFamily="2" charset="0"/>
              </a:rPr>
              <a:t>:</a:t>
            </a:r>
          </a:p>
          <a:p>
            <a:r>
              <a:rPr lang="ro-RO" b="1" noProof="1">
                <a:solidFill>
                  <a:schemeClr val="bg1"/>
                </a:solidFill>
                <a:latin typeface="UT Sans Medium" panose="00000500000000000000" pitchFamily="2" charset="0"/>
              </a:rPr>
              <a:t>Dezvoltarea de competențe tehnice avansate</a:t>
            </a:r>
          </a:p>
          <a:p>
            <a:r>
              <a:rPr lang="ro-RO" b="1" noProof="1">
                <a:solidFill>
                  <a:schemeClr val="bg1"/>
                </a:solidFill>
                <a:latin typeface="UT Sans Medium" panose="00000500000000000000" pitchFamily="2" charset="0"/>
              </a:rPr>
              <a:t>Oportunitatea de a experimenta programare cross-platform și integrare între limbaje</a:t>
            </a:r>
          </a:p>
          <a:p>
            <a:r>
              <a:rPr lang="ro-RO" b="1" noProof="1">
                <a:solidFill>
                  <a:schemeClr val="bg1"/>
                </a:solidFill>
                <a:latin typeface="UT Sans Medium" panose="00000500000000000000" pitchFamily="2" charset="0"/>
              </a:rPr>
              <a:t>Dorința de a oferi o experiență prietenoasă și intuitivă</a:t>
            </a:r>
          </a:p>
          <a:p>
            <a:r>
              <a:rPr lang="ro-RO" b="1" noProof="1">
                <a:solidFill>
                  <a:schemeClr val="bg1"/>
                </a:solidFill>
                <a:latin typeface="UT Sans Medium" panose="00000500000000000000" pitchFamily="2" charset="0"/>
              </a:rPr>
              <a:t>Necesitatea unui mod rapid și facil de editare a imaginilor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8CA606E-DCBD-4E8B-F0C0-7AD444B8C389}"/>
              </a:ext>
            </a:extLst>
          </p:cNvPr>
          <p:cNvGrpSpPr/>
          <p:nvPr/>
        </p:nvGrpSpPr>
        <p:grpSpPr>
          <a:xfrm>
            <a:off x="212030" y="2132752"/>
            <a:ext cx="5696866" cy="3141552"/>
            <a:chOff x="212030" y="1937443"/>
            <a:chExt cx="5696866" cy="314155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1BFBDA7-DBD6-E6AF-AA41-03935A8B7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4978" y="2214924"/>
              <a:ext cx="2601520" cy="26015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E6E38EC-7C43-587E-ECB1-FD3C0DF846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21297" y="2213644"/>
              <a:ext cx="2602800" cy="2602800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84F4A09-0B5E-ABF4-6C70-5CF41A28D6A5}"/>
                </a:ext>
              </a:extLst>
            </p:cNvPr>
            <p:cNvSpPr/>
            <p:nvPr/>
          </p:nvSpPr>
          <p:spPr>
            <a:xfrm>
              <a:off x="212030" y="1937443"/>
              <a:ext cx="5696866" cy="314155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/>
            </a:p>
          </p:txBody>
        </p:sp>
      </p:grpSp>
    </p:spTree>
    <p:extLst>
      <p:ext uri="{BB962C8B-B14F-4D97-AF65-F5344CB8AC3E}">
        <p14:creationId xmlns:p14="http://schemas.microsoft.com/office/powerpoint/2010/main" val="4187452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5C3BA-6E7E-AA69-84FD-B90F79605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37F8F-BB21-9079-28AC-C7AB6009C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noProof="1">
                <a:solidFill>
                  <a:schemeClr val="bg1"/>
                </a:solidFill>
                <a:latin typeface="UT Sans Medium" panose="00000500000000000000" pitchFamily="2" charset="0"/>
              </a:rPr>
              <a:t>Descrierea aplicației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B00BC-73EA-A6AC-0D1B-906F4DFD8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o-RO" b="1" noProof="1">
                <a:solidFill>
                  <a:schemeClr val="bg1"/>
                </a:solidFill>
                <a:latin typeface="UT Sans" panose="00000500000000000000" pitchFamily="2" charset="0"/>
              </a:rPr>
              <a:t>Scopul aplicației:</a:t>
            </a:r>
          </a:p>
          <a:p>
            <a:r>
              <a:rPr lang="ro-RO" noProof="1">
                <a:solidFill>
                  <a:schemeClr val="bg1"/>
                </a:solidFill>
                <a:latin typeface="UT Sans" panose="00000500000000000000" pitchFamily="2" charset="0"/>
              </a:rPr>
              <a:t>Transformă editarea imaginilor într-un proces rapid și vizual, direct în browser, fără software instalat.</a:t>
            </a:r>
          </a:p>
          <a:p>
            <a:pPr marL="0" indent="0">
              <a:buNone/>
            </a:pPr>
            <a:r>
              <a:rPr lang="ro-RO" b="1" noProof="1">
                <a:solidFill>
                  <a:schemeClr val="bg1"/>
                </a:solidFill>
                <a:latin typeface="UT Sans" panose="00000500000000000000" pitchFamily="2" charset="0"/>
              </a:rPr>
              <a:t>Funcționalități cheie:</a:t>
            </a:r>
          </a:p>
          <a:p>
            <a:r>
              <a:rPr lang="ro-RO" noProof="1">
                <a:solidFill>
                  <a:schemeClr val="bg1"/>
                </a:solidFill>
                <a:latin typeface="UT Sans" panose="00000500000000000000" pitchFamily="2" charset="0"/>
              </a:rPr>
              <a:t>Bibliotecă de filtre variate</a:t>
            </a:r>
          </a:p>
          <a:p>
            <a:r>
              <a:rPr lang="ro-RO" noProof="1">
                <a:solidFill>
                  <a:schemeClr val="bg1"/>
                </a:solidFill>
                <a:latin typeface="UT Sans" panose="00000500000000000000" pitchFamily="2" charset="0"/>
              </a:rPr>
              <a:t>Istoric arborescent</a:t>
            </a:r>
          </a:p>
          <a:p>
            <a:r>
              <a:rPr lang="ro-RO" noProof="1">
                <a:solidFill>
                  <a:schemeClr val="bg1"/>
                </a:solidFill>
                <a:latin typeface="UT Sans" panose="00000500000000000000" pitchFamily="2" charset="0"/>
              </a:rPr>
              <a:t>Galerie de imagini</a:t>
            </a:r>
          </a:p>
          <a:p>
            <a:r>
              <a:rPr lang="ro-RO" noProof="1">
                <a:solidFill>
                  <a:schemeClr val="bg1"/>
                </a:solidFill>
                <a:latin typeface="UT Sans" panose="00000500000000000000" pitchFamily="2" charset="0"/>
              </a:rPr>
              <a:t>Stocare sigură</a:t>
            </a:r>
          </a:p>
          <a:p>
            <a:r>
              <a:rPr lang="ro-RO" noProof="1">
                <a:solidFill>
                  <a:schemeClr val="bg1"/>
                </a:solidFill>
                <a:latin typeface="UT Sans" panose="00000500000000000000" pitchFamily="2" charset="0"/>
              </a:rPr>
              <a:t>Suport pentru mobil</a:t>
            </a:r>
          </a:p>
        </p:txBody>
      </p:sp>
    </p:spTree>
    <p:extLst>
      <p:ext uri="{BB962C8B-B14F-4D97-AF65-F5344CB8AC3E}">
        <p14:creationId xmlns:p14="http://schemas.microsoft.com/office/powerpoint/2010/main" val="3996485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E7AED-B059-CC28-1CDD-97F2E0350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noProof="1">
                <a:solidFill>
                  <a:schemeClr val="bg1"/>
                </a:solidFill>
                <a:latin typeface="UT Sans Medium" panose="00000500000000000000" pitchFamily="2" charset="0"/>
              </a:rPr>
              <a:t>Tehnologii folosite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028A5DA-38FB-B6A0-E351-35C951DDDED3}"/>
              </a:ext>
            </a:extLst>
          </p:cNvPr>
          <p:cNvGrpSpPr/>
          <p:nvPr/>
        </p:nvGrpSpPr>
        <p:grpSpPr>
          <a:xfrm>
            <a:off x="694881" y="1677315"/>
            <a:ext cx="10828335" cy="4323990"/>
            <a:chOff x="694881" y="1677315"/>
            <a:chExt cx="10828335" cy="432399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D59BD9-7F9F-5158-5BA8-3EB7F0DE3025}"/>
                </a:ext>
              </a:extLst>
            </p:cNvPr>
            <p:cNvSpPr/>
            <p:nvPr/>
          </p:nvSpPr>
          <p:spPr>
            <a:xfrm>
              <a:off x="694881" y="1677315"/>
              <a:ext cx="10828335" cy="432399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noProof="1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B98371AD-168E-E6A2-F2C0-716D7BAABF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1902" y="1888975"/>
              <a:ext cx="810445" cy="912427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F21583D1-D8B0-B434-24BF-4DFDA1B82D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3883" y="2618684"/>
              <a:ext cx="1807627" cy="585973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69B883E9-7F9D-4EC7-0B81-1168B4B39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35657" y="1894827"/>
              <a:ext cx="896252" cy="896252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A358ABE9-1FCD-40A2-DF0A-88CAD5D4E9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41137" y="2460684"/>
              <a:ext cx="1015022" cy="1015022"/>
            </a:xfrm>
            <a:prstGeom prst="rect">
              <a:avLst/>
            </a:prstGeom>
          </p:spPr>
        </p:pic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678C4A82-38B5-1369-8CEB-F1D7258E99E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971491" y="1951658"/>
              <a:ext cx="839421" cy="839421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FA1475C2-0902-A81F-715D-0538785B0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7639" y="4984211"/>
              <a:ext cx="2734625" cy="738135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91196329-3B13-CEAF-54A3-0A55D088C46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1121" y="3873499"/>
              <a:ext cx="3497527" cy="689943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25B489D7-F65D-FEBA-A2E3-CED5BCECD0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70306" y="3104787"/>
              <a:ext cx="2473604" cy="637640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50EF1492-0C7B-7DD8-2BC3-A5720731D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72605" y="4467358"/>
              <a:ext cx="1024396" cy="1047567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49CF1ADC-424F-69B0-E240-9ADFA8F7F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8895" y="3653343"/>
              <a:ext cx="1899211" cy="1015023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EFD6E47B-BCD4-81E7-ECAC-761E63E3BB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4142" y="2112562"/>
              <a:ext cx="2210873" cy="1243616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A1F74123-8849-86C0-3EE7-B718A230B6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94269" y="4004537"/>
              <a:ext cx="1119469" cy="1119469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C5B8B4E4-E00A-DBC3-5AEC-4EF892C60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0379" y="4141501"/>
              <a:ext cx="1015023" cy="1015023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B4B69ACE-9BC6-7BF9-4A7F-0E23B71704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4786" y="2968195"/>
              <a:ext cx="799193" cy="799193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E893B632-FD28-DD32-8204-3271300BBC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18571" y="4702707"/>
              <a:ext cx="963201" cy="1019639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4553690-0779-FB61-149F-BA59EF8F21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 rot="20686004">
              <a:off x="7138098" y="2444213"/>
              <a:ext cx="1435304" cy="4278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1954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73FD9-1823-9424-4DCB-82E414A9A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4B10D-4F90-A415-F2CC-B4B337835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noProof="1">
                <a:solidFill>
                  <a:schemeClr val="bg1"/>
                </a:solidFill>
                <a:latin typeface="UT Sans Medium" panose="00000500000000000000" pitchFamily="2" charset="0"/>
              </a:rPr>
              <a:t>Concluzii și direcții viitoare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07F6DAD-0D04-1C90-B662-13BE4D488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736976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o-RO" noProof="1">
                <a:solidFill>
                  <a:schemeClr val="bg1"/>
                </a:solidFill>
                <a:latin typeface="UT Sans" panose="00000500000000000000" pitchFamily="2" charset="0"/>
              </a:rPr>
              <a:t>În urma dezvoltării aplicației, s-au realizat:</a:t>
            </a:r>
          </a:p>
          <a:p>
            <a:r>
              <a:rPr lang="ro-RO" noProof="1">
                <a:solidFill>
                  <a:schemeClr val="bg1"/>
                </a:solidFill>
                <a:latin typeface="UT Sans" panose="00000500000000000000" pitchFamily="2" charset="0"/>
              </a:rPr>
              <a:t>Dezvoltarea unei aplicații web multiplatformă pentru procesarea și editarea imaginilor, accesibilă atât pe desktop cât și pe mobil</a:t>
            </a:r>
          </a:p>
          <a:p>
            <a:r>
              <a:rPr lang="ro-RO" noProof="1">
                <a:solidFill>
                  <a:schemeClr val="bg1"/>
                </a:solidFill>
                <a:latin typeface="UT Sans" panose="00000500000000000000" pitchFamily="2" charset="0"/>
              </a:rPr>
              <a:t>Consolidarea, aprofundarea și aplicarea cunoștințelor teoretice din domeniul procesării digitale a imaginilor, prin implementarea unor algoritmi clasici și demonstrarea interoperabilității între limbaje de programare în cadrul unei soluții integrate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F3D9F-455F-084D-2117-79E0D36E2C5F}"/>
              </a:ext>
            </a:extLst>
          </p:cNvPr>
          <p:cNvSpPr txBox="1">
            <a:spLocks/>
          </p:cNvSpPr>
          <p:nvPr/>
        </p:nvSpPr>
        <p:spPr>
          <a:xfrm>
            <a:off x="6927542" y="1825625"/>
            <a:ext cx="4736976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o-RO" noProof="1">
                <a:solidFill>
                  <a:schemeClr val="bg1"/>
                </a:solidFill>
                <a:latin typeface="UT Sans" panose="00000500000000000000" pitchFamily="2" charset="0"/>
              </a:rPr>
              <a:t>Pentru viitor, se doresc următoarele dezvoltări:</a:t>
            </a:r>
          </a:p>
          <a:p>
            <a:r>
              <a:rPr lang="ro-RO" noProof="1">
                <a:solidFill>
                  <a:schemeClr val="bg1"/>
                </a:solidFill>
                <a:latin typeface="UT Sans" panose="00000500000000000000" pitchFamily="2" charset="0"/>
              </a:rPr>
              <a:t>Adăugarea suportului pentru upload și procesare video, cu aplicarea de filtre pe fiecare cadru</a:t>
            </a:r>
          </a:p>
          <a:p>
            <a:r>
              <a:rPr lang="ro-RO" noProof="1">
                <a:solidFill>
                  <a:schemeClr val="bg1"/>
                </a:solidFill>
                <a:latin typeface="UT Sans" panose="00000500000000000000" pitchFamily="2" charset="0"/>
              </a:rPr>
              <a:t>Extinderea gamei de filtre și integrarea de algoritmi avansați, inclusiv utilizând inteligența artificială</a:t>
            </a:r>
          </a:p>
          <a:p>
            <a:r>
              <a:rPr lang="ro-RO" noProof="1">
                <a:solidFill>
                  <a:schemeClr val="bg1"/>
                </a:solidFill>
                <a:latin typeface="UT Sans" panose="00000500000000000000" pitchFamily="2" charset="0"/>
              </a:rPr>
              <a:t>Optimizări suplimentare de performanță, inclusiv accelerare hardware (GPU) pentru procesare rapidă a imaginilor/videoclipurilor</a:t>
            </a:r>
          </a:p>
        </p:txBody>
      </p:sp>
    </p:spTree>
    <p:extLst>
      <p:ext uri="{BB962C8B-B14F-4D97-AF65-F5344CB8AC3E}">
        <p14:creationId xmlns:p14="http://schemas.microsoft.com/office/powerpoint/2010/main" val="1833817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F779E-39CE-BA5C-ED8F-D817C8591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28F96-6411-B295-2871-3B22BED09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3863" y="909212"/>
            <a:ext cx="7146524" cy="3984931"/>
          </a:xfrm>
        </p:spPr>
        <p:txBody>
          <a:bodyPr>
            <a:normAutofit/>
          </a:bodyPr>
          <a:lstStyle/>
          <a:p>
            <a:pPr algn="ctr"/>
            <a:r>
              <a:rPr lang="ro-RO" sz="16600" b="1" noProof="1">
                <a:solidFill>
                  <a:schemeClr val="bg1"/>
                </a:solidFill>
                <a:latin typeface="UT Sans Medium" panose="00000500000000000000" pitchFamily="2" charset="0"/>
              </a:rPr>
              <a:t>Q&amp;A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FE61150-619B-B736-2C51-95AC9438DB29}"/>
              </a:ext>
            </a:extLst>
          </p:cNvPr>
          <p:cNvSpPr txBox="1">
            <a:spLocks/>
          </p:cNvSpPr>
          <p:nvPr/>
        </p:nvSpPr>
        <p:spPr>
          <a:xfrm>
            <a:off x="563418" y="5098329"/>
            <a:ext cx="9144000" cy="9930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o-RO" b="1" noProof="1">
                <a:solidFill>
                  <a:schemeClr val="bg1"/>
                </a:solidFill>
                <a:latin typeface="UT Sans Medium" panose="00000500000000000000" pitchFamily="2" charset="0"/>
              </a:rPr>
              <a:t>Student</a:t>
            </a:r>
            <a:r>
              <a:rPr lang="ro-RO" noProof="1">
                <a:solidFill>
                  <a:schemeClr val="bg1"/>
                </a:solidFill>
                <a:latin typeface="UT Sans Medium" panose="00000500000000000000" pitchFamily="2" charset="0"/>
              </a:rPr>
              <a:t>: Horovei Dumitru</a:t>
            </a:r>
          </a:p>
          <a:p>
            <a:pPr algn="just"/>
            <a:r>
              <a:rPr lang="ro-RO" b="1" noProof="1">
                <a:solidFill>
                  <a:schemeClr val="bg1"/>
                </a:solidFill>
                <a:latin typeface="UT Sans Medium" panose="00000500000000000000" pitchFamily="2" charset="0"/>
              </a:rPr>
              <a:t>Coordonator</a:t>
            </a:r>
            <a:r>
              <a:rPr lang="ro-RO" noProof="1">
                <a:solidFill>
                  <a:schemeClr val="bg1"/>
                </a:solidFill>
                <a:latin typeface="UT Sans Medium" panose="00000500000000000000" pitchFamily="2" charset="0"/>
              </a:rPr>
              <a:t>: Prof. Dr. Deaconu Adrian-Marius</a:t>
            </a:r>
          </a:p>
        </p:txBody>
      </p:sp>
    </p:spTree>
    <p:extLst>
      <p:ext uri="{BB962C8B-B14F-4D97-AF65-F5344CB8AC3E}">
        <p14:creationId xmlns:p14="http://schemas.microsoft.com/office/powerpoint/2010/main" val="4210736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BFF95-5804-FC7F-53D2-BBFC6E754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A0FD0-F945-3100-53C2-D66957F3F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noProof="1">
                <a:solidFill>
                  <a:schemeClr val="bg1"/>
                </a:solidFill>
                <a:latin typeface="UT Sans Medium" panose="00000500000000000000" pitchFamily="2" charset="0"/>
              </a:rPr>
              <a:t>Bibliografie selectivă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BFA340F-BB5D-CBD4-7647-1EE0953C2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37777" cy="4351338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ro-RO" dirty="0">
                <a:solidFill>
                  <a:schemeClr val="bg1"/>
                </a:solidFill>
                <a:latin typeface="UT Sans Medium" panose="00000500000000000000" pitchFamily="2" charset="0"/>
              </a:rPr>
              <a:t>[1] Commons Wikimedia. RGB and CMYK comparison, 2024. URL: https://commons.wikimedia.org/wiki/File:RGB_and_CMYK_comparison.png </a:t>
            </a:r>
            <a:endParaRPr lang="en-US" dirty="0">
              <a:solidFill>
                <a:schemeClr val="bg1"/>
              </a:solidFill>
              <a:latin typeface="UT Sans Medium" panose="00000500000000000000" pitchFamily="2" charset="0"/>
            </a:endParaRPr>
          </a:p>
          <a:p>
            <a:pPr marL="0" indent="0" algn="just">
              <a:buNone/>
            </a:pPr>
            <a:r>
              <a:rPr lang="ro-RO" dirty="0">
                <a:solidFill>
                  <a:schemeClr val="bg1"/>
                </a:solidFill>
                <a:latin typeface="UT Sans Medium" panose="00000500000000000000" pitchFamily="2" charset="0"/>
              </a:rPr>
              <a:t>[2] Development Factory. Ce este un REST API, 2024. URL: https://developmentfactory.ro/blog/ce-este-un-rest-api </a:t>
            </a:r>
            <a:endParaRPr lang="en-US" dirty="0">
              <a:solidFill>
                <a:schemeClr val="bg1"/>
              </a:solidFill>
              <a:latin typeface="UT Sans Medium" panose="00000500000000000000" pitchFamily="2" charset="0"/>
            </a:endParaRPr>
          </a:p>
          <a:p>
            <a:pPr marL="0" indent="0" algn="just">
              <a:buNone/>
            </a:pPr>
            <a:r>
              <a:rPr lang="ro-RO" dirty="0">
                <a:solidFill>
                  <a:schemeClr val="bg1"/>
                </a:solidFill>
                <a:latin typeface="UT Sans Medium" panose="00000500000000000000" pitchFamily="2" charset="0"/>
              </a:rPr>
              <a:t>[3] Docs GitHub. Understanding GitHub Actions, 2024. URL: https://docs.github.com/en/actions/about-github-actions/understanding-github-actions </a:t>
            </a:r>
            <a:endParaRPr lang="en-US" dirty="0">
              <a:solidFill>
                <a:schemeClr val="bg1"/>
              </a:solidFill>
              <a:latin typeface="UT Sans Medium" panose="00000500000000000000" pitchFamily="2" charset="0"/>
            </a:endParaRPr>
          </a:p>
          <a:p>
            <a:pPr marL="0" indent="0" algn="just">
              <a:buNone/>
            </a:pPr>
            <a:r>
              <a:rPr lang="ro-RO" dirty="0">
                <a:solidFill>
                  <a:schemeClr val="bg1"/>
                </a:solidFill>
                <a:latin typeface="UT Sans Medium" panose="00000500000000000000" pitchFamily="2" charset="0"/>
              </a:rPr>
              <a:t>[4] Doxygen, 2024. URL: https://www.doxygen.nl/ </a:t>
            </a:r>
            <a:endParaRPr lang="en-US" dirty="0">
              <a:solidFill>
                <a:schemeClr val="bg1"/>
              </a:solidFill>
              <a:latin typeface="UT Sans Medium" panose="00000500000000000000" pitchFamily="2" charset="0"/>
            </a:endParaRPr>
          </a:p>
          <a:p>
            <a:pPr marL="0" indent="0" algn="just">
              <a:buNone/>
            </a:pPr>
            <a:r>
              <a:rPr lang="ro-RO" dirty="0">
                <a:solidFill>
                  <a:schemeClr val="bg1"/>
                </a:solidFill>
                <a:latin typeface="UT Sans Medium" panose="00000500000000000000" pitchFamily="2" charset="0"/>
              </a:rPr>
              <a:t>[5] DSP Stack Exchange. Why is C so popular for image processing, 2024. URL: https://dsp.stackexchange.com/questions/25263/why-is-c-so-popular-for-image-processing </a:t>
            </a:r>
          </a:p>
          <a:p>
            <a:pPr marL="0" indent="0" algn="just">
              <a:buNone/>
            </a:pPr>
            <a:r>
              <a:rPr lang="ro-RO" dirty="0">
                <a:solidFill>
                  <a:schemeClr val="bg1"/>
                </a:solidFill>
                <a:latin typeface="UT Sans Medium" panose="00000500000000000000" pitchFamily="2" charset="0"/>
              </a:rPr>
              <a:t>[6] GeeksforGeeks. Introduction to parallel programming with OpenMP in C++, 2024. URL: https://www.geeksforgeeks.org/introduction-to-parallel-programming-with-openmp-in-cpp/ </a:t>
            </a:r>
          </a:p>
          <a:p>
            <a:pPr marL="0" indent="0" algn="just">
              <a:buNone/>
            </a:pPr>
            <a:r>
              <a:rPr lang="ro-RO" dirty="0">
                <a:solidFill>
                  <a:schemeClr val="bg1"/>
                </a:solidFill>
                <a:latin typeface="UT Sans Medium" panose="00000500000000000000" pitchFamily="2" charset="0"/>
              </a:rPr>
              <a:t>[7] Medium. What is C++, 2024. URL: https://medium.com/@ouzatl_88083/what-is-c-cb4a7e44ce59 </a:t>
            </a:r>
          </a:p>
          <a:p>
            <a:pPr marL="0" indent="0" algn="just">
              <a:buNone/>
            </a:pPr>
            <a:r>
              <a:rPr lang="ro-RO" dirty="0">
                <a:solidFill>
                  <a:schemeClr val="bg1"/>
                </a:solidFill>
                <a:latin typeface="UT Sans Medium" panose="00000500000000000000" pitchFamily="2" charset="0"/>
              </a:rPr>
              <a:t>[8] Staticmania. Angular framework, 2024. URL: https://staticmania.com/blog/angular-framework </a:t>
            </a:r>
            <a:endParaRPr lang="en-US" dirty="0">
              <a:solidFill>
                <a:schemeClr val="bg1"/>
              </a:solidFill>
              <a:latin typeface="UT Sans Medium" panose="00000500000000000000" pitchFamily="2" charset="0"/>
            </a:endParaRPr>
          </a:p>
          <a:p>
            <a:pPr marL="0" indent="0" algn="just">
              <a:buNone/>
            </a:pPr>
            <a:r>
              <a:rPr lang="ro-RO" dirty="0">
                <a:solidFill>
                  <a:schemeClr val="bg1"/>
                </a:solidFill>
                <a:latin typeface="UT Sans Medium" panose="00000500000000000000" pitchFamily="2" charset="0"/>
              </a:rPr>
              <a:t>[9] PubNub. SignalR Guide, 2024. URL: https://www.pubnub.com/guides/signalr/ </a:t>
            </a:r>
          </a:p>
          <a:p>
            <a:pPr marL="0" indent="0" algn="just">
              <a:buNone/>
            </a:pPr>
            <a:r>
              <a:rPr lang="ro-RO" dirty="0">
                <a:solidFill>
                  <a:schemeClr val="bg1"/>
                </a:solidFill>
                <a:latin typeface="UT Sans Medium" panose="00000500000000000000" pitchFamily="2" charset="0"/>
              </a:rPr>
              <a:t>[10] MongoDB. What is MongoDB, 2024. URL: https://www.mongodb.com/company/what-is-mongodb </a:t>
            </a:r>
            <a:endParaRPr lang="en-US" dirty="0">
              <a:solidFill>
                <a:schemeClr val="bg1"/>
              </a:solidFill>
              <a:latin typeface="UT Sans Medium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146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266</TotalTime>
  <Words>529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UT Sans</vt:lpstr>
      <vt:lpstr>UT Sans Medium</vt:lpstr>
      <vt:lpstr>Office Theme</vt:lpstr>
      <vt:lpstr>Sistem de procesare și vizualizare a imaginilor cu suport pentru filtre avansate și procesare paralelă</vt:lpstr>
      <vt:lpstr>Cuprins</vt:lpstr>
      <vt:lpstr>Motivarea temei alese</vt:lpstr>
      <vt:lpstr>Descrierea aplicației</vt:lpstr>
      <vt:lpstr>Tehnologii folosite</vt:lpstr>
      <vt:lpstr>Concluzii și direcții viitoare</vt:lpstr>
      <vt:lpstr>Q&amp;A</vt:lpstr>
      <vt:lpstr>Bibliografie selectivă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dumy</dc:creator>
  <cp:lastModifiedBy>dumy</cp:lastModifiedBy>
  <cp:revision>24</cp:revision>
  <dcterms:created xsi:type="dcterms:W3CDTF">2025-06-14T17:37:12Z</dcterms:created>
  <dcterms:modified xsi:type="dcterms:W3CDTF">2025-06-15T16:45:53Z</dcterms:modified>
</cp:coreProperties>
</file>